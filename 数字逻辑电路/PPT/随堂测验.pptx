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613" r:id="rId2"/>
    <p:sldId id="614" r:id="rId3"/>
    <p:sldId id="615" r:id="rId4"/>
    <p:sldId id="616" r:id="rId5"/>
    <p:sldId id="617" r:id="rId6"/>
    <p:sldId id="61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nyu" userId="4ef73c0e9951af0c" providerId="LiveId" clId="{E7F430F3-8559-4D7A-83AA-94A449EF4405}"/>
    <pc:docChg chg="addSld modSld">
      <pc:chgData name="wang jinyu" userId="4ef73c0e9951af0c" providerId="LiveId" clId="{E7F430F3-8559-4D7A-83AA-94A449EF4405}" dt="2025-06-26T00:19:36.810" v="5"/>
      <pc:docMkLst>
        <pc:docMk/>
      </pc:docMkLst>
      <pc:sldChg chg="add">
        <pc:chgData name="wang jinyu" userId="4ef73c0e9951af0c" providerId="LiveId" clId="{E7F430F3-8559-4D7A-83AA-94A449EF4405}" dt="2025-06-26T00:18:56.120" v="0"/>
        <pc:sldMkLst>
          <pc:docMk/>
          <pc:sldMk cId="1231535828" sldId="613"/>
        </pc:sldMkLst>
      </pc:sldChg>
      <pc:sldChg chg="add">
        <pc:chgData name="wang jinyu" userId="4ef73c0e9951af0c" providerId="LiveId" clId="{E7F430F3-8559-4D7A-83AA-94A449EF4405}" dt="2025-06-26T00:19:08.051" v="1"/>
        <pc:sldMkLst>
          <pc:docMk/>
          <pc:sldMk cId="2088974793" sldId="614"/>
        </pc:sldMkLst>
      </pc:sldChg>
      <pc:sldChg chg="add">
        <pc:chgData name="wang jinyu" userId="4ef73c0e9951af0c" providerId="LiveId" clId="{E7F430F3-8559-4D7A-83AA-94A449EF4405}" dt="2025-06-26T00:19:15.427" v="2"/>
        <pc:sldMkLst>
          <pc:docMk/>
          <pc:sldMk cId="4026959309" sldId="615"/>
        </pc:sldMkLst>
      </pc:sldChg>
      <pc:sldChg chg="add">
        <pc:chgData name="wang jinyu" userId="4ef73c0e9951af0c" providerId="LiveId" clId="{E7F430F3-8559-4D7A-83AA-94A449EF4405}" dt="2025-06-26T00:19:23.288" v="3"/>
        <pc:sldMkLst>
          <pc:docMk/>
          <pc:sldMk cId="2197119255" sldId="616"/>
        </pc:sldMkLst>
      </pc:sldChg>
      <pc:sldChg chg="add">
        <pc:chgData name="wang jinyu" userId="4ef73c0e9951af0c" providerId="LiveId" clId="{E7F430F3-8559-4D7A-83AA-94A449EF4405}" dt="2025-06-26T00:19:30.275" v="4"/>
        <pc:sldMkLst>
          <pc:docMk/>
          <pc:sldMk cId="142708436" sldId="617"/>
        </pc:sldMkLst>
      </pc:sldChg>
      <pc:sldChg chg="add">
        <pc:chgData name="wang jinyu" userId="4ef73c0e9951af0c" providerId="LiveId" clId="{E7F430F3-8559-4D7A-83AA-94A449EF4405}" dt="2025-06-26T00:19:36.810" v="5"/>
        <pc:sldMkLst>
          <pc:docMk/>
          <pc:sldMk cId="1931381631" sldId="6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8D616-E521-444C-A97A-CBF4BA65C0FA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B8486-58F8-447F-AC2F-ED3A35D8A3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2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</a:rPr>
              <a:t>4'b0111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200" noProof="1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200" noProof="1">
              <a:solidFill>
                <a:schemeClr val="tx1">
                  <a:tint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algn="r"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A9D66578-A4B0-4728-A59E-771CF9BE561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algn="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725790"/>
      </p:ext>
    </p:extLst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62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430953" y="741680"/>
            <a:ext cx="11328400" cy="227607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第一章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12780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(65)</a:t>
            </a:r>
            <a:r>
              <a:rPr lang="en-US" altLang="zh-CN" sz="2400" baseline="-250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=()</a:t>
            </a:r>
            <a:r>
              <a:rPr lang="en-US" altLang="zh-CN" sz="2400" baseline="-250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=()</a:t>
            </a:r>
            <a:r>
              <a:rPr lang="en-US" altLang="zh-CN" sz="2400" baseline="-250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=()</a:t>
            </a:r>
            <a:r>
              <a:rPr lang="zh-CN" altLang="en-US" sz="2400" baseline="-250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余三码</a:t>
            </a: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、已知典型格雷码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:10101001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，求它对应的二进制编码。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、化简 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F1=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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m4(0,2,5,7,8,10,13,15) 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050D0AB-8F21-4219-8F1C-A6A96F3087AB}"/>
              </a:ext>
            </a:extLst>
          </p:cNvPr>
          <p:cNvSpPr txBox="1"/>
          <p:nvPr/>
        </p:nvSpPr>
        <p:spPr>
          <a:xfrm>
            <a:off x="7842252" y="165100"/>
            <a:ext cx="4169833" cy="37965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67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</p:spTree>
    <p:extLst>
      <p:ext uri="{BB962C8B-B14F-4D97-AF65-F5344CB8AC3E}">
        <p14:creationId xmlns:p14="http://schemas.microsoft.com/office/powerpoint/2010/main" val="1231535828"/>
      </p:ext>
    </p:extLst>
  </p:cSld>
  <p:clrMapOvr>
    <a:masterClrMapping/>
  </p:clrMapOvr>
  <p:transition advTm="2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430953" y="741680"/>
            <a:ext cx="11328400" cy="5681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第二章第一次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12780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、分析下图逻辑电路，写出逻辑表达式。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、用“与非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与非”电路设计一个三路表决器，仅写出逻辑表达式。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输入：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ABC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，输出：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功能：有大于等于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个输入为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时，输出为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</a:p>
          <a:p>
            <a:pPr marL="527987" algn="just">
              <a:lnSpc>
                <a:spcPct val="120000"/>
              </a:lnSpc>
            </a:pP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F=ABC+AB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，判断是否存在逻辑险象，若有，存在哪种险象，如何消除。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050D0AB-8F21-4219-8F1C-A6A96F3087AB}"/>
              </a:ext>
            </a:extLst>
          </p:cNvPr>
          <p:cNvSpPr txBox="1"/>
          <p:nvPr/>
        </p:nvSpPr>
        <p:spPr>
          <a:xfrm>
            <a:off x="7842252" y="165100"/>
            <a:ext cx="4169833" cy="37965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67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2E7F14-D285-4B89-B4CC-BAC9514D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52" y="2261626"/>
            <a:ext cx="3949603" cy="1647428"/>
          </a:xfrm>
          <a:prstGeom prst="rect">
            <a:avLst/>
          </a:prstGeom>
        </p:spPr>
      </p:pic>
      <p:sp>
        <p:nvSpPr>
          <p:cNvPr id="61" name="Line 75">
            <a:extLst>
              <a:ext uri="{FF2B5EF4-FFF2-40B4-BE49-F238E27FC236}">
                <a16:creationId xmlns:a16="http://schemas.microsoft.com/office/drawing/2014/main" id="{3D636F33-6E67-44E1-AA09-175367B5C1A8}"/>
              </a:ext>
            </a:extLst>
          </p:cNvPr>
          <p:cNvSpPr/>
          <p:nvPr/>
        </p:nvSpPr>
        <p:spPr>
          <a:xfrm>
            <a:off x="1967707" y="6021288"/>
            <a:ext cx="191856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088974793"/>
      </p:ext>
    </p:extLst>
  </p:cSld>
  <p:clrMapOvr>
    <a:masterClrMapping/>
  </p:clrMapOvr>
  <p:transition advTm="2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-220107" y="760669"/>
            <a:ext cx="11328400" cy="43515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第二章第二次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12780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、用译码器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实现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F(x,y,z) = ∑m(0,2,5,7)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。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</a:pPr>
            <a:endParaRPr lang="en-US" altLang="zh-CN" sz="2400" baseline="-250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、用选用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位多路选择器（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1/2 74LS153 </a:t>
            </a:r>
            <a:r>
              <a:rPr lang="zh-CN" altLang="en-US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），实现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F (x,y,z)  = ∑m</a:t>
            </a:r>
            <a:r>
              <a:rPr lang="pl-PL" altLang="zh-CN" sz="2400" baseline="300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pl-PL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 (1,2,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pl-PL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pl-PL" altLang="zh-CN" sz="2400" noProof="1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400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050D0AB-8F21-4219-8F1C-A6A96F3087AB}"/>
              </a:ext>
            </a:extLst>
          </p:cNvPr>
          <p:cNvSpPr txBox="1"/>
          <p:nvPr/>
        </p:nvSpPr>
        <p:spPr>
          <a:xfrm>
            <a:off x="7842252" y="165100"/>
            <a:ext cx="4169833" cy="37965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67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grpSp>
        <p:nvGrpSpPr>
          <p:cNvPr id="6" name="Group 76">
            <a:extLst>
              <a:ext uri="{FF2B5EF4-FFF2-40B4-BE49-F238E27FC236}">
                <a16:creationId xmlns:a16="http://schemas.microsoft.com/office/drawing/2014/main" id="{78DA2F91-6001-4F35-B5A9-03721EFBCCF1}"/>
              </a:ext>
            </a:extLst>
          </p:cNvPr>
          <p:cNvGrpSpPr/>
          <p:nvPr/>
        </p:nvGrpSpPr>
        <p:grpSpPr>
          <a:xfrm>
            <a:off x="9447073" y="573618"/>
            <a:ext cx="2726267" cy="4396317"/>
            <a:chOff x="4280" y="768"/>
            <a:chExt cx="1288" cy="1680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AF398767-C0C7-46DD-8579-FD6077B73FF0}"/>
                </a:ext>
              </a:extLst>
            </p:cNvPr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1125D46-496A-431B-B768-9B6426F82A03}"/>
                </a:ext>
              </a:extLst>
            </p:cNvPr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71" name="Oval 9">
                <a:extLst>
                  <a:ext uri="{FF2B5EF4-FFF2-40B4-BE49-F238E27FC236}">
                    <a16:creationId xmlns:a16="http://schemas.microsoft.com/office/drawing/2014/main" id="{C52F293D-7AB5-4341-9A12-5F557C31C049}"/>
                  </a:ext>
                </a:extLst>
              </p:cNvPr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D77534D9-879B-4E02-B8F5-17C1F7D9A220}"/>
                  </a:ext>
                </a:extLst>
              </p:cNvPr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D840A605-5B78-44A9-8D07-5CF340CCFB59}"/>
                </a:ext>
              </a:extLst>
            </p:cNvPr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E374B3BF-437D-4F56-9572-A18A9530A993}"/>
                </a:ext>
              </a:extLst>
            </p:cNvPr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5B432623-5D54-4EFA-BCCF-45FE02254D3D}"/>
                </a:ext>
              </a:extLst>
            </p:cNvPr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0553D1E2-B1C0-4F96-9B83-7391D5E9AE94}"/>
                </a:ext>
              </a:extLst>
            </p:cNvPr>
            <p:cNvSpPr txBox="1"/>
            <p:nvPr/>
          </p:nvSpPr>
          <p:spPr>
            <a:xfrm>
              <a:off x="4512" y="768"/>
              <a:ext cx="720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B3A179C8-1C65-43BF-8B46-DDDFF7D5A357}"/>
                </a:ext>
              </a:extLst>
            </p:cNvPr>
            <p:cNvSpPr txBox="1"/>
            <p:nvPr/>
          </p:nvSpPr>
          <p:spPr>
            <a:xfrm>
              <a:off x="4560" y="1038"/>
              <a:ext cx="28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1F72F044-FC70-4A10-9D26-3B7430201A9B}"/>
                </a:ext>
              </a:extLst>
            </p:cNvPr>
            <p:cNvSpPr txBox="1"/>
            <p:nvPr/>
          </p:nvSpPr>
          <p:spPr>
            <a:xfrm>
              <a:off x="4558" y="1804"/>
              <a:ext cx="28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EC083290-AE6C-4A37-8B47-E67E356B9419}"/>
                </a:ext>
              </a:extLst>
            </p:cNvPr>
            <p:cNvSpPr txBox="1"/>
            <p:nvPr/>
          </p:nvSpPr>
          <p:spPr>
            <a:xfrm>
              <a:off x="4326" y="990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00E3D1EB-0753-4029-9708-28F7553694D3}"/>
                </a:ext>
              </a:extLst>
            </p:cNvPr>
            <p:cNvSpPr txBox="1"/>
            <p:nvPr/>
          </p:nvSpPr>
          <p:spPr>
            <a:xfrm>
              <a:off x="4318" y="1152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FCB04584-3359-47AB-9C2F-760025E75B33}"/>
                </a:ext>
              </a:extLst>
            </p:cNvPr>
            <p:cNvSpPr txBox="1"/>
            <p:nvPr/>
          </p:nvSpPr>
          <p:spPr>
            <a:xfrm>
              <a:off x="4318" y="1344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49FD1306-BEE7-48BF-8FEA-D8808E741E83}"/>
                </a:ext>
              </a:extLst>
            </p:cNvPr>
            <p:cNvSpPr txBox="1"/>
            <p:nvPr/>
          </p:nvSpPr>
          <p:spPr>
            <a:xfrm>
              <a:off x="4328" y="1766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42706E9B-F387-4D51-A468-FD3946962171}"/>
                </a:ext>
              </a:extLst>
            </p:cNvPr>
            <p:cNvSpPr txBox="1"/>
            <p:nvPr/>
          </p:nvSpPr>
          <p:spPr>
            <a:xfrm>
              <a:off x="4328" y="1958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id="{0222006F-92F2-4683-B13B-91DBB2DD4687}"/>
                </a:ext>
              </a:extLst>
            </p:cNvPr>
            <p:cNvSpPr txBox="1"/>
            <p:nvPr/>
          </p:nvSpPr>
          <p:spPr>
            <a:xfrm>
              <a:off x="4318" y="2160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42F354B7-4D87-46FC-9D23-3E4EF25F2F49}"/>
                </a:ext>
              </a:extLst>
            </p:cNvPr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22" name="Group 24">
              <a:extLst>
                <a:ext uri="{FF2B5EF4-FFF2-40B4-BE49-F238E27FC236}">
                  <a16:creationId xmlns:a16="http://schemas.microsoft.com/office/drawing/2014/main" id="{26413B29-4F96-4FE5-B913-EA84DA5FF637}"/>
                </a:ext>
              </a:extLst>
            </p:cNvPr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69" name="Oval 25">
                <a:extLst>
                  <a:ext uri="{FF2B5EF4-FFF2-40B4-BE49-F238E27FC236}">
                    <a16:creationId xmlns:a16="http://schemas.microsoft.com/office/drawing/2014/main" id="{F5E88846-4264-43A5-BBFD-C720C49864A5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0" name="Line 26">
                <a:extLst>
                  <a:ext uri="{FF2B5EF4-FFF2-40B4-BE49-F238E27FC236}">
                    <a16:creationId xmlns:a16="http://schemas.microsoft.com/office/drawing/2014/main" id="{6A2A71D4-4FAE-407B-9D2B-B39547320A0F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23" name="Group 27">
              <a:extLst>
                <a:ext uri="{FF2B5EF4-FFF2-40B4-BE49-F238E27FC236}">
                  <a16:creationId xmlns:a16="http://schemas.microsoft.com/office/drawing/2014/main" id="{0161C7C5-2201-4C3C-AFFD-78569F4F1666}"/>
                </a:ext>
              </a:extLst>
            </p:cNvPr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67" name="Oval 28">
                <a:extLst>
                  <a:ext uri="{FF2B5EF4-FFF2-40B4-BE49-F238E27FC236}">
                    <a16:creationId xmlns:a16="http://schemas.microsoft.com/office/drawing/2014/main" id="{150E623B-5E79-4A59-A007-8F938F57B9BF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8" name="Line 29">
                <a:extLst>
                  <a:ext uri="{FF2B5EF4-FFF2-40B4-BE49-F238E27FC236}">
                    <a16:creationId xmlns:a16="http://schemas.microsoft.com/office/drawing/2014/main" id="{B81E66C2-D598-40B4-9814-3F2FA1C9F864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24" name="Group 30">
              <a:extLst>
                <a:ext uri="{FF2B5EF4-FFF2-40B4-BE49-F238E27FC236}">
                  <a16:creationId xmlns:a16="http://schemas.microsoft.com/office/drawing/2014/main" id="{9A38E89E-DE23-4328-9E71-393E5A7B2EEE}"/>
                </a:ext>
              </a:extLst>
            </p:cNvPr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65" name="Oval 31">
                <a:extLst>
                  <a:ext uri="{FF2B5EF4-FFF2-40B4-BE49-F238E27FC236}">
                    <a16:creationId xmlns:a16="http://schemas.microsoft.com/office/drawing/2014/main" id="{3CE828F9-AE57-4742-A160-D61780493A3A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6" name="Line 32">
                <a:extLst>
                  <a:ext uri="{FF2B5EF4-FFF2-40B4-BE49-F238E27FC236}">
                    <a16:creationId xmlns:a16="http://schemas.microsoft.com/office/drawing/2014/main" id="{18843F2C-7027-48E8-A403-0324B2F42B12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25" name="Group 33">
              <a:extLst>
                <a:ext uri="{FF2B5EF4-FFF2-40B4-BE49-F238E27FC236}">
                  <a16:creationId xmlns:a16="http://schemas.microsoft.com/office/drawing/2014/main" id="{350789DE-E2C1-468A-8C80-386EE58AA293}"/>
                </a:ext>
              </a:extLst>
            </p:cNvPr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63" name="Oval 34">
                <a:extLst>
                  <a:ext uri="{FF2B5EF4-FFF2-40B4-BE49-F238E27FC236}">
                    <a16:creationId xmlns:a16="http://schemas.microsoft.com/office/drawing/2014/main" id="{86E42F68-5C43-48A5-914D-FB255A40ED1F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4" name="Line 35">
                <a:extLst>
                  <a:ext uri="{FF2B5EF4-FFF2-40B4-BE49-F238E27FC236}">
                    <a16:creationId xmlns:a16="http://schemas.microsoft.com/office/drawing/2014/main" id="{48B97566-70BD-4C6B-A5B6-98093D231525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F383BECE-1D5E-464C-9A10-3A4B81A7049B}"/>
                </a:ext>
              </a:extLst>
            </p:cNvPr>
            <p:cNvSpPr txBox="1"/>
            <p:nvPr/>
          </p:nvSpPr>
          <p:spPr>
            <a:xfrm>
              <a:off x="4952" y="1378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F16BDC19-DC1A-49B4-88D4-AA03D2ABD902}"/>
                </a:ext>
              </a:extLst>
            </p:cNvPr>
            <p:cNvSpPr txBox="1"/>
            <p:nvPr/>
          </p:nvSpPr>
          <p:spPr>
            <a:xfrm>
              <a:off x="4952" y="1090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3879446A-362A-4236-A40A-78DDF5629333}"/>
                </a:ext>
              </a:extLst>
            </p:cNvPr>
            <p:cNvSpPr txBox="1"/>
            <p:nvPr/>
          </p:nvSpPr>
          <p:spPr>
            <a:xfrm>
              <a:off x="4952" y="1224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" name="Text Box 39">
              <a:extLst>
                <a:ext uri="{FF2B5EF4-FFF2-40B4-BE49-F238E27FC236}">
                  <a16:creationId xmlns:a16="http://schemas.microsoft.com/office/drawing/2014/main" id="{4A268C36-0739-4758-956D-D0245AE1A103}"/>
                </a:ext>
              </a:extLst>
            </p:cNvPr>
            <p:cNvSpPr txBox="1"/>
            <p:nvPr/>
          </p:nvSpPr>
          <p:spPr>
            <a:xfrm>
              <a:off x="4952" y="1534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" name="Text Box 40">
              <a:extLst>
                <a:ext uri="{FF2B5EF4-FFF2-40B4-BE49-F238E27FC236}">
                  <a16:creationId xmlns:a16="http://schemas.microsoft.com/office/drawing/2014/main" id="{5329255D-116B-49CE-AB8B-CB38BB1FDBCE}"/>
                </a:ext>
              </a:extLst>
            </p:cNvPr>
            <p:cNvSpPr txBox="1"/>
            <p:nvPr/>
          </p:nvSpPr>
          <p:spPr>
            <a:xfrm>
              <a:off x="5240" y="1042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</a:p>
          </p:txBody>
        </p:sp>
        <p:sp>
          <p:nvSpPr>
            <p:cNvPr id="31" name="Text Box 41">
              <a:extLst>
                <a:ext uri="{FF2B5EF4-FFF2-40B4-BE49-F238E27FC236}">
                  <a16:creationId xmlns:a16="http://schemas.microsoft.com/office/drawing/2014/main" id="{56288C16-B270-4756-BCBD-06CAE8829BAD}"/>
                </a:ext>
              </a:extLst>
            </p:cNvPr>
            <p:cNvSpPr txBox="1"/>
            <p:nvPr/>
          </p:nvSpPr>
          <p:spPr>
            <a:xfrm>
              <a:off x="5240" y="1196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47CDC693-0703-49CB-85F8-B4BAD24AC9B4}"/>
                </a:ext>
              </a:extLst>
            </p:cNvPr>
            <p:cNvSpPr txBox="1"/>
            <p:nvPr/>
          </p:nvSpPr>
          <p:spPr>
            <a:xfrm>
              <a:off x="5240" y="1330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</a:p>
          </p:txBody>
        </p:sp>
        <p:sp>
          <p:nvSpPr>
            <p:cNvPr id="33" name="Text Box 43">
              <a:extLst>
                <a:ext uri="{FF2B5EF4-FFF2-40B4-BE49-F238E27FC236}">
                  <a16:creationId xmlns:a16="http://schemas.microsoft.com/office/drawing/2014/main" id="{858CC95A-815B-42F5-B31B-D57823122F9A}"/>
                </a:ext>
              </a:extLst>
            </p:cNvPr>
            <p:cNvSpPr txBox="1"/>
            <p:nvPr/>
          </p:nvSpPr>
          <p:spPr>
            <a:xfrm>
              <a:off x="5240" y="1474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</a:p>
          </p:txBody>
        </p:sp>
        <p:grpSp>
          <p:nvGrpSpPr>
            <p:cNvPr id="34" name="Group 44">
              <a:extLst>
                <a:ext uri="{FF2B5EF4-FFF2-40B4-BE49-F238E27FC236}">
                  <a16:creationId xmlns:a16="http://schemas.microsoft.com/office/drawing/2014/main" id="{B12473CC-453A-4173-AB9E-3C8B6B1872A5}"/>
                </a:ext>
              </a:extLst>
            </p:cNvPr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60" name="Oval 45">
                <a:extLst>
                  <a:ext uri="{FF2B5EF4-FFF2-40B4-BE49-F238E27FC236}">
                    <a16:creationId xmlns:a16="http://schemas.microsoft.com/office/drawing/2014/main" id="{F490369B-FC0B-47E9-A012-889DF6A96398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2" name="Line 46">
                <a:extLst>
                  <a:ext uri="{FF2B5EF4-FFF2-40B4-BE49-F238E27FC236}">
                    <a16:creationId xmlns:a16="http://schemas.microsoft.com/office/drawing/2014/main" id="{8010B574-E24A-40C5-B971-95586CED5DCF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35" name="Group 47">
              <a:extLst>
                <a:ext uri="{FF2B5EF4-FFF2-40B4-BE49-F238E27FC236}">
                  <a16:creationId xmlns:a16="http://schemas.microsoft.com/office/drawing/2014/main" id="{E0A7CFA6-FAF9-49C6-B8E9-020808816FAD}"/>
                </a:ext>
              </a:extLst>
            </p:cNvPr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58" name="Oval 48">
                <a:extLst>
                  <a:ext uri="{FF2B5EF4-FFF2-40B4-BE49-F238E27FC236}">
                    <a16:creationId xmlns:a16="http://schemas.microsoft.com/office/drawing/2014/main" id="{288EBD20-CB23-4B13-9BC4-ABB7FFC78503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9" name="Line 49">
                <a:extLst>
                  <a:ext uri="{FF2B5EF4-FFF2-40B4-BE49-F238E27FC236}">
                    <a16:creationId xmlns:a16="http://schemas.microsoft.com/office/drawing/2014/main" id="{00888A57-BE1F-4E7D-A4CD-B275566C4F0B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36" name="Group 50">
              <a:extLst>
                <a:ext uri="{FF2B5EF4-FFF2-40B4-BE49-F238E27FC236}">
                  <a16:creationId xmlns:a16="http://schemas.microsoft.com/office/drawing/2014/main" id="{374A2948-DA26-461E-ABC2-FD2CF5E9E0B1}"/>
                </a:ext>
              </a:extLst>
            </p:cNvPr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56" name="Oval 51">
                <a:extLst>
                  <a:ext uri="{FF2B5EF4-FFF2-40B4-BE49-F238E27FC236}">
                    <a16:creationId xmlns:a16="http://schemas.microsoft.com/office/drawing/2014/main" id="{5E1178BC-A3B3-46D2-9478-793F6C05B821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7" name="Line 52">
                <a:extLst>
                  <a:ext uri="{FF2B5EF4-FFF2-40B4-BE49-F238E27FC236}">
                    <a16:creationId xmlns:a16="http://schemas.microsoft.com/office/drawing/2014/main" id="{1918E419-5C0F-4C23-A437-3EA4F6AEF506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37" name="Group 53">
              <a:extLst>
                <a:ext uri="{FF2B5EF4-FFF2-40B4-BE49-F238E27FC236}">
                  <a16:creationId xmlns:a16="http://schemas.microsoft.com/office/drawing/2014/main" id="{E800D1D4-DEDF-4E52-8DF2-0A8579A86D62}"/>
                </a:ext>
              </a:extLst>
            </p:cNvPr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54" name="Oval 54">
                <a:extLst>
                  <a:ext uri="{FF2B5EF4-FFF2-40B4-BE49-F238E27FC236}">
                    <a16:creationId xmlns:a16="http://schemas.microsoft.com/office/drawing/2014/main" id="{9FABB47E-9D25-4DD2-9C3D-D684215AC82A}"/>
                  </a:ext>
                </a:extLst>
              </p:cNvPr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5" name="Line 55">
                <a:extLst>
                  <a:ext uri="{FF2B5EF4-FFF2-40B4-BE49-F238E27FC236}">
                    <a16:creationId xmlns:a16="http://schemas.microsoft.com/office/drawing/2014/main" id="{E8038221-7A39-4C2F-8DAC-BCEE3CF4CB8E}"/>
                  </a:ext>
                </a:extLst>
              </p:cNvPr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38" name="Text Box 56">
              <a:extLst>
                <a:ext uri="{FF2B5EF4-FFF2-40B4-BE49-F238E27FC236}">
                  <a16:creationId xmlns:a16="http://schemas.microsoft.com/office/drawing/2014/main" id="{7DFE6D98-3E5F-4232-9CA4-0AFD67949047}"/>
                </a:ext>
              </a:extLst>
            </p:cNvPr>
            <p:cNvSpPr txBox="1"/>
            <p:nvPr/>
          </p:nvSpPr>
          <p:spPr>
            <a:xfrm>
              <a:off x="5270" y="2072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</a:p>
          </p:txBody>
        </p:sp>
        <p:sp>
          <p:nvSpPr>
            <p:cNvPr id="39" name="Text Box 57">
              <a:extLst>
                <a:ext uri="{FF2B5EF4-FFF2-40B4-BE49-F238E27FC236}">
                  <a16:creationId xmlns:a16="http://schemas.microsoft.com/office/drawing/2014/main" id="{2E8FB20D-B599-440B-A82F-02695F7A3FFD}"/>
                </a:ext>
              </a:extLst>
            </p:cNvPr>
            <p:cNvSpPr txBox="1"/>
            <p:nvPr/>
          </p:nvSpPr>
          <p:spPr>
            <a:xfrm>
              <a:off x="5212" y="1630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</a:p>
          </p:txBody>
        </p:sp>
        <p:sp>
          <p:nvSpPr>
            <p:cNvPr id="40" name="Text Box 58">
              <a:extLst>
                <a:ext uri="{FF2B5EF4-FFF2-40B4-BE49-F238E27FC236}">
                  <a16:creationId xmlns:a16="http://schemas.microsoft.com/office/drawing/2014/main" id="{A1E178DB-706C-478C-A96D-362FAA62AF42}"/>
                </a:ext>
              </a:extLst>
            </p:cNvPr>
            <p:cNvSpPr txBox="1"/>
            <p:nvPr/>
          </p:nvSpPr>
          <p:spPr>
            <a:xfrm>
              <a:off x="5212" y="1784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</a:p>
          </p:txBody>
        </p:sp>
        <p:sp>
          <p:nvSpPr>
            <p:cNvPr id="41" name="Text Box 59">
              <a:extLst>
                <a:ext uri="{FF2B5EF4-FFF2-40B4-BE49-F238E27FC236}">
                  <a16:creationId xmlns:a16="http://schemas.microsoft.com/office/drawing/2014/main" id="{73F8FB51-5CC2-41E7-8DAE-3FB1F27458E5}"/>
                </a:ext>
              </a:extLst>
            </p:cNvPr>
            <p:cNvSpPr txBox="1"/>
            <p:nvPr/>
          </p:nvSpPr>
          <p:spPr>
            <a:xfrm>
              <a:off x="4952" y="1678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" name="Text Box 60">
              <a:extLst>
                <a:ext uri="{FF2B5EF4-FFF2-40B4-BE49-F238E27FC236}">
                  <a16:creationId xmlns:a16="http://schemas.microsoft.com/office/drawing/2014/main" id="{C2857FBB-7ED1-4DF2-8319-8C9796C867C5}"/>
                </a:ext>
              </a:extLst>
            </p:cNvPr>
            <p:cNvSpPr txBox="1"/>
            <p:nvPr/>
          </p:nvSpPr>
          <p:spPr>
            <a:xfrm>
              <a:off x="4952" y="1822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" name="Text Box 61">
              <a:extLst>
                <a:ext uri="{FF2B5EF4-FFF2-40B4-BE49-F238E27FC236}">
                  <a16:creationId xmlns:a16="http://schemas.microsoft.com/office/drawing/2014/main" id="{60141A64-0E32-4817-9555-185929D89360}"/>
                </a:ext>
              </a:extLst>
            </p:cNvPr>
            <p:cNvSpPr txBox="1"/>
            <p:nvPr/>
          </p:nvSpPr>
          <p:spPr>
            <a:xfrm>
              <a:off x="4952" y="1966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" name="Text Box 62">
              <a:extLst>
                <a:ext uri="{FF2B5EF4-FFF2-40B4-BE49-F238E27FC236}">
                  <a16:creationId xmlns:a16="http://schemas.microsoft.com/office/drawing/2014/main" id="{21798BE1-28D0-4E56-96E0-7F0C6BF71DDA}"/>
                </a:ext>
              </a:extLst>
            </p:cNvPr>
            <p:cNvSpPr txBox="1"/>
            <p:nvPr/>
          </p:nvSpPr>
          <p:spPr>
            <a:xfrm>
              <a:off x="4952" y="2120"/>
              <a:ext cx="38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5" name="Text Box 63">
              <a:extLst>
                <a:ext uri="{FF2B5EF4-FFF2-40B4-BE49-F238E27FC236}">
                  <a16:creationId xmlns:a16="http://schemas.microsoft.com/office/drawing/2014/main" id="{4149DDFF-6C39-4032-BF3D-EF59CC9DB5AA}"/>
                </a:ext>
              </a:extLst>
            </p:cNvPr>
            <p:cNvSpPr txBox="1"/>
            <p:nvPr/>
          </p:nvSpPr>
          <p:spPr>
            <a:xfrm>
              <a:off x="5260" y="1928"/>
              <a:ext cx="29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</a:p>
          </p:txBody>
        </p:sp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0E7169A9-6877-4A24-A22F-CBA212DACC4E}"/>
                </a:ext>
              </a:extLst>
            </p:cNvPr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7" name="Text Box 65">
              <a:extLst>
                <a:ext uri="{FF2B5EF4-FFF2-40B4-BE49-F238E27FC236}">
                  <a16:creationId xmlns:a16="http://schemas.microsoft.com/office/drawing/2014/main" id="{33791C92-5EE2-487C-9CCA-4CC8751C5322}"/>
                </a:ext>
              </a:extLst>
            </p:cNvPr>
            <p:cNvSpPr txBox="1"/>
            <p:nvPr/>
          </p:nvSpPr>
          <p:spPr>
            <a:xfrm>
              <a:off x="4568" y="1998"/>
              <a:ext cx="28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48" name="Text Box 66">
              <a:extLst>
                <a:ext uri="{FF2B5EF4-FFF2-40B4-BE49-F238E27FC236}">
                  <a16:creationId xmlns:a16="http://schemas.microsoft.com/office/drawing/2014/main" id="{7A9E5548-1D60-4806-8443-43CBF87A694D}"/>
                </a:ext>
              </a:extLst>
            </p:cNvPr>
            <p:cNvSpPr txBox="1"/>
            <p:nvPr/>
          </p:nvSpPr>
          <p:spPr>
            <a:xfrm>
              <a:off x="4568" y="2188"/>
              <a:ext cx="288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grpSp>
          <p:nvGrpSpPr>
            <p:cNvPr id="49" name="Group 67">
              <a:extLst>
                <a:ext uri="{FF2B5EF4-FFF2-40B4-BE49-F238E27FC236}">
                  <a16:creationId xmlns:a16="http://schemas.microsoft.com/office/drawing/2014/main" id="{9AE202F0-850E-4F3E-BED0-A0ACE0AFDDD9}"/>
                </a:ext>
              </a:extLst>
            </p:cNvPr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52" name="Oval 68">
                <a:extLst>
                  <a:ext uri="{FF2B5EF4-FFF2-40B4-BE49-F238E27FC236}">
                    <a16:creationId xmlns:a16="http://schemas.microsoft.com/office/drawing/2014/main" id="{92C7B8AB-E117-4723-B0B8-E289584675E7}"/>
                  </a:ext>
                </a:extLst>
              </p:cNvPr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3" name="Line 69">
                <a:extLst>
                  <a:ext uri="{FF2B5EF4-FFF2-40B4-BE49-F238E27FC236}">
                    <a16:creationId xmlns:a16="http://schemas.microsoft.com/office/drawing/2014/main" id="{8038B018-3200-49E5-819D-039D466791DD}"/>
                  </a:ext>
                </a:extLst>
              </p:cNvPr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50" name="Text Box 70">
              <a:extLst>
                <a:ext uri="{FF2B5EF4-FFF2-40B4-BE49-F238E27FC236}">
                  <a16:creationId xmlns:a16="http://schemas.microsoft.com/office/drawing/2014/main" id="{2F8AD6D5-7E84-412C-9254-F5B87A6CA943}"/>
                </a:ext>
              </a:extLst>
            </p:cNvPr>
            <p:cNvSpPr txBox="1"/>
            <p:nvPr/>
          </p:nvSpPr>
          <p:spPr>
            <a:xfrm>
              <a:off x="4568" y="1220"/>
              <a:ext cx="364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1" name="Text Box 71">
              <a:extLst>
                <a:ext uri="{FF2B5EF4-FFF2-40B4-BE49-F238E27FC236}">
                  <a16:creationId xmlns:a16="http://schemas.microsoft.com/office/drawing/2014/main" id="{C0A2D202-001B-4223-BF76-048198014566}"/>
                </a:ext>
              </a:extLst>
            </p:cNvPr>
            <p:cNvSpPr txBox="1"/>
            <p:nvPr/>
          </p:nvSpPr>
          <p:spPr>
            <a:xfrm>
              <a:off x="4568" y="1402"/>
              <a:ext cx="336" cy="17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2400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8B2302C-77C9-4694-AAAE-4E5A519D1C03}"/>
              </a:ext>
            </a:extLst>
          </p:cNvPr>
          <p:cNvGrpSpPr/>
          <p:nvPr/>
        </p:nvGrpSpPr>
        <p:grpSpPr>
          <a:xfrm>
            <a:off x="7800307" y="4254603"/>
            <a:ext cx="2032000" cy="2609380"/>
            <a:chOff x="5832437" y="3198144"/>
            <a:chExt cx="1524000" cy="1957035"/>
          </a:xfrm>
        </p:grpSpPr>
        <p:sp>
          <p:nvSpPr>
            <p:cNvPr id="115" name="Line 55">
              <a:extLst>
                <a:ext uri="{FF2B5EF4-FFF2-40B4-BE49-F238E27FC236}">
                  <a16:creationId xmlns:a16="http://schemas.microsoft.com/office/drawing/2014/main" id="{0246D7BF-C880-4698-8F94-21A4916AE008}"/>
                </a:ext>
              </a:extLst>
            </p:cNvPr>
            <p:cNvSpPr/>
            <p:nvPr/>
          </p:nvSpPr>
          <p:spPr>
            <a:xfrm flipV="1">
              <a:off x="5896554" y="3988577"/>
              <a:ext cx="145434" cy="11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73" name="Group 86">
              <a:extLst>
                <a:ext uri="{FF2B5EF4-FFF2-40B4-BE49-F238E27FC236}">
                  <a16:creationId xmlns:a16="http://schemas.microsoft.com/office/drawing/2014/main" id="{ECFB2C57-4A91-4D8A-A692-1DAEF624A6B9}"/>
                </a:ext>
              </a:extLst>
            </p:cNvPr>
            <p:cNvGrpSpPr/>
            <p:nvPr/>
          </p:nvGrpSpPr>
          <p:grpSpPr>
            <a:xfrm>
              <a:off x="5832437" y="3198144"/>
              <a:ext cx="1524000" cy="1957035"/>
              <a:chOff x="4335" y="2397"/>
              <a:chExt cx="960" cy="1644"/>
            </a:xfrm>
          </p:grpSpPr>
          <p:sp>
            <p:nvSpPr>
              <p:cNvPr id="74" name="Rectangle 34">
                <a:extLst>
                  <a:ext uri="{FF2B5EF4-FFF2-40B4-BE49-F238E27FC236}">
                    <a16:creationId xmlns:a16="http://schemas.microsoft.com/office/drawing/2014/main" id="{89D954DA-2B9B-41C4-AF12-660613227303}"/>
                  </a:ext>
                </a:extLst>
              </p:cNvPr>
              <p:cNvSpPr/>
              <p:nvPr/>
            </p:nvSpPr>
            <p:spPr>
              <a:xfrm>
                <a:off x="4524" y="2697"/>
                <a:ext cx="576" cy="134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5" name="Line 35">
                <a:extLst>
                  <a:ext uri="{FF2B5EF4-FFF2-40B4-BE49-F238E27FC236}">
                    <a16:creationId xmlns:a16="http://schemas.microsoft.com/office/drawing/2014/main" id="{BB2E0A7F-3091-496E-A5CE-461EFDAA40C0}"/>
                  </a:ext>
                </a:extLst>
              </p:cNvPr>
              <p:cNvSpPr/>
              <p:nvPr/>
            </p:nvSpPr>
            <p:spPr>
              <a:xfrm>
                <a:off x="5100" y="3369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9" name="Oval 39">
                <a:extLst>
                  <a:ext uri="{FF2B5EF4-FFF2-40B4-BE49-F238E27FC236}">
                    <a16:creationId xmlns:a16="http://schemas.microsoft.com/office/drawing/2014/main" id="{E5C5EDA0-0491-4805-8995-EA746CD358A8}"/>
                  </a:ext>
                </a:extLst>
              </p:cNvPr>
              <p:cNvSpPr/>
              <p:nvPr/>
            </p:nvSpPr>
            <p:spPr>
              <a:xfrm>
                <a:off x="4467" y="3036"/>
                <a:ext cx="57" cy="57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1" name="Text Box 44">
                <a:extLst>
                  <a:ext uri="{FF2B5EF4-FFF2-40B4-BE49-F238E27FC236}">
                    <a16:creationId xmlns:a16="http://schemas.microsoft.com/office/drawing/2014/main" id="{8365D77D-6EBB-4BCC-8653-C2352E210782}"/>
                  </a:ext>
                </a:extLst>
              </p:cNvPr>
              <p:cNvSpPr txBox="1"/>
              <p:nvPr/>
            </p:nvSpPr>
            <p:spPr>
              <a:xfrm>
                <a:off x="4512" y="2625"/>
                <a:ext cx="192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</a:p>
            </p:txBody>
          </p:sp>
          <p:sp>
            <p:nvSpPr>
              <p:cNvPr id="82" name="Text Box 48">
                <a:extLst>
                  <a:ext uri="{FF2B5EF4-FFF2-40B4-BE49-F238E27FC236}">
                    <a16:creationId xmlns:a16="http://schemas.microsoft.com/office/drawing/2014/main" id="{83464260-6F28-42DD-B5F7-CA2B06B90911}"/>
                  </a:ext>
                </a:extLst>
              </p:cNvPr>
              <p:cNvSpPr txBox="1"/>
              <p:nvPr/>
            </p:nvSpPr>
            <p:spPr>
              <a:xfrm>
                <a:off x="4494" y="3353"/>
                <a:ext cx="505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2400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3" name="Text Box 45">
                <a:extLst>
                  <a:ext uri="{FF2B5EF4-FFF2-40B4-BE49-F238E27FC236}">
                    <a16:creationId xmlns:a16="http://schemas.microsoft.com/office/drawing/2014/main" id="{D057C913-1F0D-47C8-BD4A-DC14166ABBF5}"/>
                  </a:ext>
                </a:extLst>
              </p:cNvPr>
              <p:cNvSpPr txBox="1"/>
              <p:nvPr/>
            </p:nvSpPr>
            <p:spPr>
              <a:xfrm>
                <a:off x="4514" y="2754"/>
                <a:ext cx="386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84" name="Text Box 46">
                <a:extLst>
                  <a:ext uri="{FF2B5EF4-FFF2-40B4-BE49-F238E27FC236}">
                    <a16:creationId xmlns:a16="http://schemas.microsoft.com/office/drawing/2014/main" id="{248B0DF8-F07D-4D18-81B1-3B6FEFE356B5}"/>
                  </a:ext>
                </a:extLst>
              </p:cNvPr>
              <p:cNvSpPr txBox="1"/>
              <p:nvPr/>
            </p:nvSpPr>
            <p:spPr>
              <a:xfrm>
                <a:off x="4494" y="3161"/>
                <a:ext cx="484" cy="29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2400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5" name="Text Box 47">
                <a:extLst>
                  <a:ext uri="{FF2B5EF4-FFF2-40B4-BE49-F238E27FC236}">
                    <a16:creationId xmlns:a16="http://schemas.microsoft.com/office/drawing/2014/main" id="{9F7F37B3-CDF2-4E98-873B-139DDB55F413}"/>
                  </a:ext>
                </a:extLst>
              </p:cNvPr>
              <p:cNvSpPr txBox="1"/>
              <p:nvPr/>
            </p:nvSpPr>
            <p:spPr>
              <a:xfrm>
                <a:off x="4484" y="2896"/>
                <a:ext cx="298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1G</a:t>
                </a:r>
              </a:p>
            </p:txBody>
          </p:sp>
          <p:sp>
            <p:nvSpPr>
              <p:cNvPr id="86" name="Text Box 49">
                <a:extLst>
                  <a:ext uri="{FF2B5EF4-FFF2-40B4-BE49-F238E27FC236}">
                    <a16:creationId xmlns:a16="http://schemas.microsoft.com/office/drawing/2014/main" id="{32DC8173-3AAF-4208-946B-5F165ABBD52F}"/>
                  </a:ext>
                </a:extLst>
              </p:cNvPr>
              <p:cNvSpPr txBox="1"/>
              <p:nvPr/>
            </p:nvSpPr>
            <p:spPr>
              <a:xfrm>
                <a:off x="4494" y="3545"/>
                <a:ext cx="414" cy="29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2400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Text Box 50">
                <a:extLst>
                  <a:ext uri="{FF2B5EF4-FFF2-40B4-BE49-F238E27FC236}">
                    <a16:creationId xmlns:a16="http://schemas.microsoft.com/office/drawing/2014/main" id="{D7BC4309-B28D-47D2-AC29-AE3B879DFC00}"/>
                  </a:ext>
                </a:extLst>
              </p:cNvPr>
              <p:cNvSpPr txBox="1"/>
              <p:nvPr/>
            </p:nvSpPr>
            <p:spPr>
              <a:xfrm>
                <a:off x="4494" y="3737"/>
                <a:ext cx="568" cy="29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2400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2" name="Line 55">
                <a:extLst>
                  <a:ext uri="{FF2B5EF4-FFF2-40B4-BE49-F238E27FC236}">
                    <a16:creationId xmlns:a16="http://schemas.microsoft.com/office/drawing/2014/main" id="{EB94E229-5254-4FC3-8C03-36964D04EBA8}"/>
                  </a:ext>
                </a:extLst>
              </p:cNvPr>
              <p:cNvSpPr/>
              <p:nvPr/>
            </p:nvSpPr>
            <p:spPr>
              <a:xfrm>
                <a:off x="4390" y="3925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05" name="Text Box 70">
                <a:extLst>
                  <a:ext uri="{FF2B5EF4-FFF2-40B4-BE49-F238E27FC236}">
                    <a16:creationId xmlns:a16="http://schemas.microsoft.com/office/drawing/2014/main" id="{E4CC6459-6942-45A9-9293-A0B6C0E21BCF}"/>
                  </a:ext>
                </a:extLst>
              </p:cNvPr>
              <p:cNvSpPr txBox="1"/>
              <p:nvPr/>
            </p:nvSpPr>
            <p:spPr>
              <a:xfrm>
                <a:off x="4335" y="2397"/>
                <a:ext cx="960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67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½ 74LS153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108" name="Text Box 85">
                <a:extLst>
                  <a:ext uri="{FF2B5EF4-FFF2-40B4-BE49-F238E27FC236}">
                    <a16:creationId xmlns:a16="http://schemas.microsoft.com/office/drawing/2014/main" id="{9B0FD49A-64C3-4F7B-A0D7-94C33323128D}"/>
                  </a:ext>
                </a:extLst>
              </p:cNvPr>
              <p:cNvSpPr txBox="1"/>
              <p:nvPr/>
            </p:nvSpPr>
            <p:spPr>
              <a:xfrm>
                <a:off x="4848" y="3189"/>
                <a:ext cx="288" cy="291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</a:p>
            </p:txBody>
          </p:sp>
        </p:grpSp>
        <p:sp>
          <p:nvSpPr>
            <p:cNvPr id="112" name="Line 55">
              <a:extLst>
                <a:ext uri="{FF2B5EF4-FFF2-40B4-BE49-F238E27FC236}">
                  <a16:creationId xmlns:a16="http://schemas.microsoft.com/office/drawing/2014/main" id="{D1CAD887-E4BA-4508-86B0-33118BBF9EC1}"/>
                </a:ext>
              </a:extLst>
            </p:cNvPr>
            <p:cNvSpPr/>
            <p:nvPr/>
          </p:nvSpPr>
          <p:spPr>
            <a:xfrm>
              <a:off x="5903875" y="4794441"/>
              <a:ext cx="228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3" name="Line 55">
              <a:extLst>
                <a:ext uri="{FF2B5EF4-FFF2-40B4-BE49-F238E27FC236}">
                  <a16:creationId xmlns:a16="http://schemas.microsoft.com/office/drawing/2014/main" id="{1CC5B628-6D91-461C-9238-681D1ACF0201}"/>
                </a:ext>
              </a:extLst>
            </p:cNvPr>
            <p:cNvSpPr/>
            <p:nvPr/>
          </p:nvSpPr>
          <p:spPr>
            <a:xfrm>
              <a:off x="5915542" y="4565882"/>
              <a:ext cx="228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4" name="Line 55">
              <a:extLst>
                <a:ext uri="{FF2B5EF4-FFF2-40B4-BE49-F238E27FC236}">
                  <a16:creationId xmlns:a16="http://schemas.microsoft.com/office/drawing/2014/main" id="{72B44B86-E821-469A-B456-C24F8B7F3838}"/>
                </a:ext>
              </a:extLst>
            </p:cNvPr>
            <p:cNvSpPr/>
            <p:nvPr/>
          </p:nvSpPr>
          <p:spPr>
            <a:xfrm>
              <a:off x="5912120" y="4323679"/>
              <a:ext cx="228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6" name="Line 55">
              <a:extLst>
                <a:ext uri="{FF2B5EF4-FFF2-40B4-BE49-F238E27FC236}">
                  <a16:creationId xmlns:a16="http://schemas.microsoft.com/office/drawing/2014/main" id="{21F85827-DE8B-4AA4-AC01-992C77674470}"/>
                </a:ext>
              </a:extLst>
            </p:cNvPr>
            <p:cNvSpPr/>
            <p:nvPr/>
          </p:nvSpPr>
          <p:spPr>
            <a:xfrm>
              <a:off x="5903875" y="3830481"/>
              <a:ext cx="228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7" name="Line 55">
              <a:extLst>
                <a:ext uri="{FF2B5EF4-FFF2-40B4-BE49-F238E27FC236}">
                  <a16:creationId xmlns:a16="http://schemas.microsoft.com/office/drawing/2014/main" id="{AAE5DA14-4343-4751-A203-A29EC936D78A}"/>
                </a:ext>
              </a:extLst>
            </p:cNvPr>
            <p:cNvSpPr/>
            <p:nvPr/>
          </p:nvSpPr>
          <p:spPr>
            <a:xfrm>
              <a:off x="5903875" y="3651870"/>
              <a:ext cx="2286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026959309"/>
      </p:ext>
    </p:extLst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-524543" y="620923"/>
            <a:ext cx="11328400" cy="23858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章第一次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、对图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所示的原始状态表进行状态化简 （写出过程）。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、对图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所示最小化状态表进行状态编码（写出过程） 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、对图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所示的二进制状态表采用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触发器设计，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 defTabSz="121917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写出激励函数和输出函数（写出过程） 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8" name="Group 3">
            <a:extLst>
              <a:ext uri="{FF2B5EF4-FFF2-40B4-BE49-F238E27FC236}">
                <a16:creationId xmlns:a16="http://schemas.microsoft.com/office/drawing/2014/main" id="{F91F9F4F-91EB-4926-89D2-1543F0F8231C}"/>
              </a:ext>
            </a:extLst>
          </p:cNvPr>
          <p:cNvGraphicFramePr>
            <a:graphicFrameLocks noGrp="1"/>
          </p:cNvGraphicFramePr>
          <p:nvPr/>
        </p:nvGraphicFramePr>
        <p:xfrm>
          <a:off x="1354336" y="3854152"/>
          <a:ext cx="4165600" cy="2743200"/>
        </p:xfrm>
        <a:graphic>
          <a:graphicData uri="http://schemas.openxmlformats.org/drawingml/2006/table">
            <a:tbl>
              <a:tblPr/>
              <a:tblGrid>
                <a:gridCol w="128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E/1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E/1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D/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60306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E/0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Box 33">
            <a:extLst>
              <a:ext uri="{FF2B5EF4-FFF2-40B4-BE49-F238E27FC236}">
                <a16:creationId xmlns:a16="http://schemas.microsoft.com/office/drawing/2014/main" id="{9B8E9990-08C3-46FB-82BC-0EC78A026F16}"/>
              </a:ext>
            </a:extLst>
          </p:cNvPr>
          <p:cNvSpPr txBox="1"/>
          <p:nvPr/>
        </p:nvSpPr>
        <p:spPr>
          <a:xfrm>
            <a:off x="2028754" y="3296886"/>
            <a:ext cx="3232149" cy="50276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原始状态表</a:t>
            </a:r>
          </a:p>
        </p:txBody>
      </p:sp>
      <p:graphicFrame>
        <p:nvGraphicFramePr>
          <p:cNvPr id="30" name="Group 3">
            <a:extLst>
              <a:ext uri="{FF2B5EF4-FFF2-40B4-BE49-F238E27FC236}">
                <a16:creationId xmlns:a16="http://schemas.microsoft.com/office/drawing/2014/main" id="{FFEE236D-09C1-42CD-92EB-8149962D0EFF}"/>
              </a:ext>
            </a:extLst>
          </p:cNvPr>
          <p:cNvGraphicFramePr>
            <a:graphicFrameLocks noGrp="1"/>
          </p:cNvGraphicFramePr>
          <p:nvPr/>
        </p:nvGraphicFramePr>
        <p:xfrm>
          <a:off x="6634923" y="4215341"/>
          <a:ext cx="4165600" cy="2286000"/>
        </p:xfrm>
        <a:graphic>
          <a:graphicData uri="http://schemas.openxmlformats.org/drawingml/2006/table">
            <a:tbl>
              <a:tblPr/>
              <a:tblGrid>
                <a:gridCol w="128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D/0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121920" marR="12192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A/1</a:t>
                      </a: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Box 33">
            <a:extLst>
              <a:ext uri="{FF2B5EF4-FFF2-40B4-BE49-F238E27FC236}">
                <a16:creationId xmlns:a16="http://schemas.microsoft.com/office/drawing/2014/main" id="{759DF055-C11A-4A8E-B018-70C648063882}"/>
              </a:ext>
            </a:extLst>
          </p:cNvPr>
          <p:cNvSpPr txBox="1"/>
          <p:nvPr/>
        </p:nvSpPr>
        <p:spPr>
          <a:xfrm>
            <a:off x="7309340" y="3658075"/>
            <a:ext cx="3232149" cy="50276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最小化状态表</a:t>
            </a:r>
          </a:p>
        </p:txBody>
      </p:sp>
      <p:grpSp>
        <p:nvGrpSpPr>
          <p:cNvPr id="32" name="Group 34">
            <a:extLst>
              <a:ext uri="{FF2B5EF4-FFF2-40B4-BE49-F238E27FC236}">
                <a16:creationId xmlns:a16="http://schemas.microsoft.com/office/drawing/2014/main" id="{B217D182-A538-4273-BE2F-B6B0CAF8B7E3}"/>
              </a:ext>
            </a:extLst>
          </p:cNvPr>
          <p:cNvGrpSpPr/>
          <p:nvPr/>
        </p:nvGrpSpPr>
        <p:grpSpPr>
          <a:xfrm>
            <a:off x="1583499" y="3717032"/>
            <a:ext cx="1320800" cy="655638"/>
            <a:chOff x="0" y="0"/>
            <a:chExt cx="624" cy="413"/>
          </a:xfrm>
        </p:grpSpPr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3AB5C170-B561-4A53-9B83-5F9B48808BB0}"/>
                </a:ext>
              </a:extLst>
            </p:cNvPr>
            <p:cNvSpPr txBox="1"/>
            <p:nvPr/>
          </p:nvSpPr>
          <p:spPr>
            <a:xfrm>
              <a:off x="240" y="0"/>
              <a:ext cx="384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667" b="1" dirty="0">
                  <a:latin typeface="Calibri" panose="020F0502020204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2F83B4AF-AB56-4E39-8D83-25FDE93B5705}"/>
                </a:ext>
              </a:extLst>
            </p:cNvPr>
            <p:cNvSpPr txBox="1"/>
            <p:nvPr/>
          </p:nvSpPr>
          <p:spPr>
            <a:xfrm>
              <a:off x="0" y="96"/>
              <a:ext cx="384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667" b="1" dirty="0">
                  <a:latin typeface="Calibri" panose="020F050202020403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5DDB07-19FF-45BE-8C38-18F862167241}"/>
              </a:ext>
            </a:extLst>
          </p:cNvPr>
          <p:cNvGrpSpPr/>
          <p:nvPr/>
        </p:nvGrpSpPr>
        <p:grpSpPr>
          <a:xfrm>
            <a:off x="6815133" y="4059932"/>
            <a:ext cx="1320800" cy="655638"/>
            <a:chOff x="0" y="0"/>
            <a:chExt cx="624" cy="413"/>
          </a:xfrm>
        </p:grpSpPr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ED460ACA-1514-4EA2-9249-C0B31766FA04}"/>
                </a:ext>
              </a:extLst>
            </p:cNvPr>
            <p:cNvSpPr txBox="1"/>
            <p:nvPr/>
          </p:nvSpPr>
          <p:spPr>
            <a:xfrm>
              <a:off x="240" y="0"/>
              <a:ext cx="384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667" b="1" dirty="0">
                  <a:latin typeface="Calibri" panose="020F0502020204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99595FC9-2762-4E96-B153-841F3F3A6DDC}"/>
                </a:ext>
              </a:extLst>
            </p:cNvPr>
            <p:cNvSpPr txBox="1"/>
            <p:nvPr/>
          </p:nvSpPr>
          <p:spPr>
            <a:xfrm>
              <a:off x="0" y="96"/>
              <a:ext cx="384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667" b="1" dirty="0">
                  <a:latin typeface="Calibri" panose="020F050202020403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aphicFrame>
        <p:nvGraphicFramePr>
          <p:cNvPr id="38" name="Group 44">
            <a:extLst>
              <a:ext uri="{FF2B5EF4-FFF2-40B4-BE49-F238E27FC236}">
                <a16:creationId xmlns:a16="http://schemas.microsoft.com/office/drawing/2014/main" id="{26DF94E6-8CA9-4A2D-A6DD-0BA911F2D3DD}"/>
              </a:ext>
            </a:extLst>
          </p:cNvPr>
          <p:cNvGraphicFramePr>
            <a:graphicFrameLocks noGrp="1"/>
          </p:cNvGraphicFramePr>
          <p:nvPr/>
        </p:nvGraphicFramePr>
        <p:xfrm>
          <a:off x="7777304" y="1279506"/>
          <a:ext cx="3657600" cy="19854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87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1920" marR="121920" marT="45693" marB="45693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7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121920" marR="121920" marT="45693" marB="45693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687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121920" marR="121920" marT="45693" marB="45693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11/1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87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121920" marR="121920" marT="45693" marB="45693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01/1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87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121920" marR="121920" marT="45693" marB="45693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</a:p>
                  </a:txBody>
                  <a:tcPr marL="121920" marR="121920" marT="45693" marB="45693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 Box 36">
            <a:extLst>
              <a:ext uri="{FF2B5EF4-FFF2-40B4-BE49-F238E27FC236}">
                <a16:creationId xmlns:a16="http://schemas.microsoft.com/office/drawing/2014/main" id="{3E7A4605-7500-4B8C-83C5-7B85D5BA6D9F}"/>
              </a:ext>
            </a:extLst>
          </p:cNvPr>
          <p:cNvSpPr txBox="1"/>
          <p:nvPr/>
        </p:nvSpPr>
        <p:spPr>
          <a:xfrm>
            <a:off x="7659339" y="1216585"/>
            <a:ext cx="993724" cy="5027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667" b="1" dirty="0"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667" b="1" baseline="-250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667" b="1" dirty="0"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667" b="1" baseline="-2500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AA6F1BC-5DD0-4A98-A607-4DFEE188E579}"/>
              </a:ext>
            </a:extLst>
          </p:cNvPr>
          <p:cNvCxnSpPr/>
          <p:nvPr/>
        </p:nvCxnSpPr>
        <p:spPr>
          <a:xfrm>
            <a:off x="7777304" y="1279506"/>
            <a:ext cx="1199016" cy="3252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35">
            <a:extLst>
              <a:ext uri="{FF2B5EF4-FFF2-40B4-BE49-F238E27FC236}">
                <a16:creationId xmlns:a16="http://schemas.microsoft.com/office/drawing/2014/main" id="{F453B8E4-24CC-4E1C-A275-7D1C08365BA4}"/>
              </a:ext>
            </a:extLst>
          </p:cNvPr>
          <p:cNvSpPr txBox="1"/>
          <p:nvPr/>
        </p:nvSpPr>
        <p:spPr>
          <a:xfrm>
            <a:off x="8519015" y="1093187"/>
            <a:ext cx="812800" cy="50276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667" b="1" dirty="0">
                <a:latin typeface="Calibri" panose="020F050202020403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" name="Text Box 33">
            <a:extLst>
              <a:ext uri="{FF2B5EF4-FFF2-40B4-BE49-F238E27FC236}">
                <a16:creationId xmlns:a16="http://schemas.microsoft.com/office/drawing/2014/main" id="{A7758EB8-ECAC-4A73-A563-685815DE4D23}"/>
              </a:ext>
            </a:extLst>
          </p:cNvPr>
          <p:cNvSpPr txBox="1"/>
          <p:nvPr/>
        </p:nvSpPr>
        <p:spPr>
          <a:xfrm>
            <a:off x="8156200" y="685914"/>
            <a:ext cx="3232149" cy="50276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3.</a:t>
            </a:r>
            <a:r>
              <a:rPr lang="zh-CN" altLang="en-US" sz="2667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二进制状态表</a:t>
            </a:r>
          </a:p>
        </p:txBody>
      </p:sp>
    </p:spTree>
    <p:extLst>
      <p:ext uri="{BB962C8B-B14F-4D97-AF65-F5344CB8AC3E}">
        <p14:creationId xmlns:p14="http://schemas.microsoft.com/office/powerpoint/2010/main" val="2197119255"/>
      </p:ext>
    </p:extLst>
  </p:cSld>
  <p:clrMapOvr>
    <a:masterClrMapping/>
  </p:clrMapOvr>
  <p:transition advTm="2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-154590" y="784321"/>
            <a:ext cx="8650847" cy="19426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章第二次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27987" algn="just">
              <a:lnSpc>
                <a:spcPct val="120000"/>
              </a:lnSpc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、采用右图所示的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触发器，设计一个模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的串行（</a:t>
            </a:r>
            <a:r>
              <a:rPr lang="zh-CN" altLang="en-US" sz="24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异步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）计数器，实现“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1-2-3-4-5-6-1-2-3-…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”的计数功能。要求写出简单的设计步骤，并画出电路图。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FE9D14-73A5-454A-A38A-F53F003953F4}"/>
              </a:ext>
            </a:extLst>
          </p:cNvPr>
          <p:cNvSpPr/>
          <p:nvPr/>
        </p:nvSpPr>
        <p:spPr>
          <a:xfrm>
            <a:off x="9936427" y="1492653"/>
            <a:ext cx="1056117" cy="15361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DBF88-5C38-4B7F-97E1-93A1DD94C6AE}"/>
              </a:ext>
            </a:extLst>
          </p:cNvPr>
          <p:cNvSpPr txBox="1"/>
          <p:nvPr/>
        </p:nvSpPr>
        <p:spPr>
          <a:xfrm>
            <a:off x="9930343" y="1679173"/>
            <a:ext cx="50604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79CAA4-9F3F-4123-BAC4-51F8F618B8BA}"/>
              </a:ext>
            </a:extLst>
          </p:cNvPr>
          <p:cNvSpPr txBox="1"/>
          <p:nvPr/>
        </p:nvSpPr>
        <p:spPr>
          <a:xfrm>
            <a:off x="10007645" y="2337206"/>
            <a:ext cx="80506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905C6B-37E3-4EC7-A28D-D1EC01491C2E}"/>
              </a:ext>
            </a:extLst>
          </p:cNvPr>
          <p:cNvSpPr txBox="1"/>
          <p:nvPr/>
        </p:nvSpPr>
        <p:spPr>
          <a:xfrm>
            <a:off x="9812667" y="2298747"/>
            <a:ext cx="50604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1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A39D020-2410-4560-85B1-D37FCB515B90}"/>
              </a:ext>
            </a:extLst>
          </p:cNvPr>
          <p:cNvSpPr/>
          <p:nvPr/>
        </p:nvSpPr>
        <p:spPr>
          <a:xfrm>
            <a:off x="9839179" y="2487755"/>
            <a:ext cx="96011" cy="960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0724752-2EB4-47E3-8F8D-DD527957678A}"/>
              </a:ext>
            </a:extLst>
          </p:cNvPr>
          <p:cNvSpPr/>
          <p:nvPr/>
        </p:nvSpPr>
        <p:spPr>
          <a:xfrm>
            <a:off x="10992544" y="2475532"/>
            <a:ext cx="96011" cy="960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5B155BD-CE81-4F61-ADB8-42D3440A4DDA}"/>
              </a:ext>
            </a:extLst>
          </p:cNvPr>
          <p:cNvSpPr/>
          <p:nvPr/>
        </p:nvSpPr>
        <p:spPr>
          <a:xfrm>
            <a:off x="10436391" y="3028295"/>
            <a:ext cx="96011" cy="960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3F37822-F1D0-446F-A5FD-737C9CB57AFA}"/>
              </a:ext>
            </a:extLst>
          </p:cNvPr>
          <p:cNvSpPr/>
          <p:nvPr/>
        </p:nvSpPr>
        <p:spPr>
          <a:xfrm>
            <a:off x="10414259" y="1385210"/>
            <a:ext cx="96011" cy="954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C23EA2-DA10-4F25-9647-E7165E4FED30}"/>
              </a:ext>
            </a:extLst>
          </p:cNvPr>
          <p:cNvSpPr txBox="1"/>
          <p:nvPr/>
        </p:nvSpPr>
        <p:spPr>
          <a:xfrm>
            <a:off x="10208054" y="1450709"/>
            <a:ext cx="57096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3A2954-96E0-4DB3-BDBD-089B3DF60CE1}"/>
              </a:ext>
            </a:extLst>
          </p:cNvPr>
          <p:cNvSpPr txBox="1"/>
          <p:nvPr/>
        </p:nvSpPr>
        <p:spPr>
          <a:xfrm>
            <a:off x="10132462" y="2675460"/>
            <a:ext cx="9180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AAFB74-52BC-4C57-A5F5-30908C912123}"/>
              </a:ext>
            </a:extLst>
          </p:cNvPr>
          <p:cNvSpPr txBox="1"/>
          <p:nvPr/>
        </p:nvSpPr>
        <p:spPr>
          <a:xfrm>
            <a:off x="10625735" y="1698371"/>
            <a:ext cx="50604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56DB222-9D42-4875-A5B6-D758A69288F9}"/>
              </a:ext>
            </a:extLst>
          </p:cNvPr>
          <p:cNvSpPr txBox="1"/>
          <p:nvPr/>
        </p:nvSpPr>
        <p:spPr>
          <a:xfrm>
            <a:off x="10591476" y="2322445"/>
            <a:ext cx="50604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</a:t>
            </a:r>
            <a:endParaRPr lang="zh-CN" alt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6C742AD-E06F-4FC4-B26A-6B2927284F24}"/>
              </a:ext>
            </a:extLst>
          </p:cNvPr>
          <p:cNvCxnSpPr>
            <a:endCxn id="5" idx="1"/>
          </p:cNvCxnSpPr>
          <p:nvPr/>
        </p:nvCxnSpPr>
        <p:spPr>
          <a:xfrm flipV="1">
            <a:off x="9360363" y="1869001"/>
            <a:ext cx="569980" cy="1535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C7F7BDD-0601-41D6-9AA5-46C6CD5C3362}"/>
              </a:ext>
            </a:extLst>
          </p:cNvPr>
          <p:cNvCxnSpPr/>
          <p:nvPr/>
        </p:nvCxnSpPr>
        <p:spPr>
          <a:xfrm>
            <a:off x="10992142" y="1884358"/>
            <a:ext cx="569980" cy="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4B3F8DE-E0B7-4C4A-9826-9C5180A5F3C3}"/>
              </a:ext>
            </a:extLst>
          </p:cNvPr>
          <p:cNvCxnSpPr>
            <a:cxnSpLocks/>
          </p:cNvCxnSpPr>
          <p:nvPr/>
        </p:nvCxnSpPr>
        <p:spPr>
          <a:xfrm>
            <a:off x="9391297" y="2535761"/>
            <a:ext cx="4398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DAA19D9-D95C-4119-B41D-9649DFEE13C3}"/>
              </a:ext>
            </a:extLst>
          </p:cNvPr>
          <p:cNvCxnSpPr>
            <a:cxnSpLocks/>
          </p:cNvCxnSpPr>
          <p:nvPr/>
        </p:nvCxnSpPr>
        <p:spPr>
          <a:xfrm>
            <a:off x="11097525" y="2535760"/>
            <a:ext cx="4398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CE4B47D-6661-47CF-A9B1-7C9EFB6E6D9C}"/>
              </a:ext>
            </a:extLst>
          </p:cNvPr>
          <p:cNvCxnSpPr>
            <a:cxnSpLocks/>
          </p:cNvCxnSpPr>
          <p:nvPr/>
        </p:nvCxnSpPr>
        <p:spPr>
          <a:xfrm flipV="1">
            <a:off x="10484396" y="3123166"/>
            <a:ext cx="0" cy="3564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580ACFE-9C38-4CF9-BA62-522182E1282C}"/>
              </a:ext>
            </a:extLst>
          </p:cNvPr>
          <p:cNvCxnSpPr>
            <a:cxnSpLocks/>
          </p:cNvCxnSpPr>
          <p:nvPr/>
        </p:nvCxnSpPr>
        <p:spPr>
          <a:xfrm flipV="1">
            <a:off x="10462264" y="1028734"/>
            <a:ext cx="0" cy="3564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08436"/>
      </p:ext>
    </p:extLst>
  </p:cSld>
  <p:clrMapOvr>
    <a:masterClrMapping/>
  </p:clrMapOvr>
  <p:transition advTm="2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1311" y="740702"/>
            <a:ext cx="7680853" cy="37154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812780" indent="-812780" defTabSz="1219170" fontAlgn="base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随堂测验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章第一次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一、多选题：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、复杂高密度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包括（）。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A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    B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EPLD    C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GAL     D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包括</a:t>
            </a:r>
            <a:r>
              <a:rPr lang="zh-CN" altLang="en-US" sz="2400" u="sng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</a:t>
            </a:r>
            <a:r>
              <a:rPr lang="zh-CN" altLang="en-US" sz="2400" u="sng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</a:t>
            </a:r>
            <a:r>
              <a:rPr lang="zh-CN" altLang="en-US" sz="2400" u="sng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二、代码补充题：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右侧代码为模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S0-S7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）预置位加</a:t>
            </a:r>
            <a:r>
              <a:rPr lang="en-US" altLang="zh-CN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计数器，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请补充完整代码。</a:t>
            </a:r>
            <a:endParaRPr lang="en-US" altLang="zh-CN" sz="24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2A2D29-257B-4385-8D47-2C885E2AC2C2}"/>
              </a:ext>
            </a:extLst>
          </p:cNvPr>
          <p:cNvSpPr txBox="1"/>
          <p:nvPr/>
        </p:nvSpPr>
        <p:spPr>
          <a:xfrm>
            <a:off x="7056107" y="260649"/>
            <a:ext cx="4992555" cy="6985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33" dirty="0"/>
              <a:t>module counter_74LS163_mod8 (</a:t>
            </a:r>
          </a:p>
          <a:p>
            <a:r>
              <a:rPr lang="zh-CN" altLang="en-US" sz="2133" dirty="0"/>
              <a:t>    input       CLK,    // 时钟信号</a:t>
            </a:r>
          </a:p>
          <a:p>
            <a:r>
              <a:rPr lang="zh-CN" altLang="en-US" sz="2133" dirty="0"/>
              <a:t>    input       ENP,    // 使能P（计数使能）</a:t>
            </a:r>
          </a:p>
          <a:p>
            <a:r>
              <a:rPr lang="zh-CN" altLang="en-US" sz="2133" dirty="0"/>
              <a:t>    input       ENT,    // 使能T（级联使能）</a:t>
            </a:r>
          </a:p>
          <a:p>
            <a:r>
              <a:rPr lang="zh-CN" altLang="en-US" sz="2133" dirty="0"/>
              <a:t>    output reg [3:0] Q,   // 4位计数器输出</a:t>
            </a:r>
          </a:p>
          <a:p>
            <a:r>
              <a:rPr lang="zh-CN" altLang="en-US" sz="2133" dirty="0"/>
              <a:t>    output      RCO         // 进位输出</a:t>
            </a:r>
          </a:p>
          <a:p>
            <a:r>
              <a:rPr lang="zh-CN" altLang="en-US" sz="2133" dirty="0"/>
              <a:t>);</a:t>
            </a:r>
          </a:p>
          <a:p>
            <a:r>
              <a:rPr lang="zh-CN" altLang="en-US" sz="2133" dirty="0"/>
              <a:t>// 同步清零信号：预置位清零</a:t>
            </a:r>
          </a:p>
          <a:p>
            <a:r>
              <a:rPr lang="zh-CN" altLang="en-US" sz="2133" dirty="0"/>
              <a:t>wire CLR_N = (Q != </a:t>
            </a:r>
            <a:r>
              <a:rPr lang="zh-CN" altLang="en-US" sz="2133" dirty="0">
                <a:solidFill>
                  <a:srgbClr val="FF0000"/>
                </a:solidFill>
              </a:rPr>
              <a:t> </a:t>
            </a:r>
            <a:r>
              <a:rPr lang="zh-CN" altLang="en-US" sz="2133" u="sng" dirty="0">
                <a:solidFill>
                  <a:srgbClr val="FF0000"/>
                </a:solidFill>
              </a:rPr>
              <a:t>                  </a:t>
            </a:r>
            <a:r>
              <a:rPr lang="zh-CN" altLang="en-US" sz="2133" dirty="0">
                <a:solidFill>
                  <a:srgbClr val="FF0000"/>
                </a:solidFill>
              </a:rPr>
              <a:t> </a:t>
            </a:r>
            <a:r>
              <a:rPr lang="zh-CN" altLang="en-US" sz="2133" dirty="0"/>
              <a:t>);</a:t>
            </a:r>
          </a:p>
          <a:p>
            <a:r>
              <a:rPr lang="zh-CN" altLang="en-US" sz="2133" dirty="0"/>
              <a:t>// 计数器逻辑</a:t>
            </a:r>
          </a:p>
          <a:p>
            <a:r>
              <a:rPr lang="zh-CN" altLang="en-US" sz="2133" dirty="0"/>
              <a:t>always @(posedge CLK) begin</a:t>
            </a:r>
          </a:p>
          <a:p>
            <a:r>
              <a:rPr lang="zh-CN" altLang="en-US" sz="2133" dirty="0"/>
              <a:t>    if (!CLR_N)          // 同步清零</a:t>
            </a:r>
          </a:p>
          <a:p>
            <a:r>
              <a:rPr lang="zh-CN" altLang="en-US" sz="2133" dirty="0"/>
              <a:t>        Q &lt;= 4'b0000;</a:t>
            </a:r>
          </a:p>
          <a:p>
            <a:r>
              <a:rPr lang="zh-CN" altLang="en-US" sz="2133" dirty="0"/>
              <a:t>    else if (ENP &amp;&amp; ENT) // 使能有效时计数</a:t>
            </a:r>
          </a:p>
          <a:p>
            <a:r>
              <a:rPr lang="zh-CN" altLang="en-US" sz="2133" dirty="0"/>
              <a:t>        Q &lt;= </a:t>
            </a:r>
            <a:r>
              <a:rPr lang="zh-CN" altLang="en-US" sz="2133" u="sng" dirty="0">
                <a:solidFill>
                  <a:srgbClr val="FF0000"/>
                </a:solidFill>
              </a:rPr>
              <a:t>                   </a:t>
            </a:r>
            <a:r>
              <a:rPr lang="zh-CN" altLang="en-US" sz="2133" dirty="0">
                <a:solidFill>
                  <a:srgbClr val="FF0000"/>
                </a:solidFill>
              </a:rPr>
              <a:t> </a:t>
            </a:r>
            <a:r>
              <a:rPr lang="zh-CN" altLang="en-US" sz="2133" dirty="0"/>
              <a:t>;</a:t>
            </a:r>
          </a:p>
          <a:p>
            <a:r>
              <a:rPr lang="zh-CN" altLang="en-US" sz="2133" dirty="0"/>
              <a:t>    // 否则保持当前值</a:t>
            </a:r>
          </a:p>
          <a:p>
            <a:r>
              <a:rPr lang="en-US" altLang="zh-CN" sz="2133" dirty="0"/>
              <a:t>E</a:t>
            </a:r>
            <a:r>
              <a:rPr lang="zh-CN" altLang="en-US" sz="2133" dirty="0"/>
              <a:t>nd</a:t>
            </a:r>
            <a:endParaRPr lang="en-US" altLang="zh-CN" sz="2133" dirty="0"/>
          </a:p>
          <a:p>
            <a:r>
              <a:rPr lang="zh-CN" altLang="en-US" sz="2133" dirty="0"/>
              <a:t>// 进位输出：当Q=？且ENT=1时置1</a:t>
            </a:r>
          </a:p>
          <a:p>
            <a:r>
              <a:rPr lang="zh-CN" altLang="en-US" sz="2133" dirty="0"/>
              <a:t>assign RCO = (Q == </a:t>
            </a:r>
            <a:r>
              <a:rPr lang="zh-CN" altLang="en-US" sz="2133" u="sng" dirty="0">
                <a:solidFill>
                  <a:srgbClr val="FF0000"/>
                </a:solidFill>
              </a:rPr>
              <a:t>               </a:t>
            </a:r>
            <a:r>
              <a:rPr lang="zh-CN" altLang="en-US" sz="2133" dirty="0">
                <a:solidFill>
                  <a:srgbClr val="FF0000"/>
                </a:solidFill>
              </a:rPr>
              <a:t> </a:t>
            </a:r>
            <a:r>
              <a:rPr lang="zh-CN" altLang="en-US" sz="2133" dirty="0"/>
              <a:t>) &amp;&amp; ENT;</a:t>
            </a:r>
          </a:p>
          <a:p>
            <a:r>
              <a:rPr lang="zh-CN" altLang="en-US" sz="2133" dirty="0"/>
              <a:t>endmodule</a:t>
            </a:r>
          </a:p>
        </p:txBody>
      </p:sp>
    </p:spTree>
    <p:extLst>
      <p:ext uri="{BB962C8B-B14F-4D97-AF65-F5344CB8AC3E}">
        <p14:creationId xmlns:p14="http://schemas.microsoft.com/office/powerpoint/2010/main" val="1931381631"/>
      </p:ext>
    </p:extLst>
  </p:cSld>
  <p:clrMapOvr>
    <a:masterClrMapping/>
  </p:clrMapOvr>
  <p:transition advTm="2500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宽屏</PresentationFormat>
  <Paragraphs>170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黑体</vt:lpstr>
      <vt:lpstr>华文新魏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jinyu</dc:creator>
  <cp:lastModifiedBy>wang jinyu</cp:lastModifiedBy>
  <cp:revision>1</cp:revision>
  <dcterms:created xsi:type="dcterms:W3CDTF">2025-06-26T00:18:50Z</dcterms:created>
  <dcterms:modified xsi:type="dcterms:W3CDTF">2025-06-26T00:19:44Z</dcterms:modified>
</cp:coreProperties>
</file>